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f88252dc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f88252dc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f88252dc4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f88252dc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f88252dc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f88252dc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ede7cbb9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6ede7cbb9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f503698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6f503698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f88252dc4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f88252dc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f5036989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f50369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f5036989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f5036989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f5036989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6f5036989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f5036989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f5036989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f88252dc4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f88252dc4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f88252dc4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f88252dc4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f88252dc4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f88252dc4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f88252dc4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f88252dc4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f88252dc4_0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f88252dc4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f88252dc4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f88252dc4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f88252dc4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f88252dc4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f88252dc4_0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f88252dc4_0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10" name="Google Shape;10;p2"/>
          <p:cNvPicPr preferRelativeResize="0"/>
          <p:nvPr/>
        </p:nvPicPr>
        <p:blipFill rotWithShape="1">
          <a:blip r:embed="rId2">
            <a:alphaModFix/>
          </a:blip>
          <a:srcRect b="23591" l="0" r="0" t="21799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b="1" lang="en-GB" sz="600"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lt1">
  <p:cSld name="TITLE_1">
    <p:bg>
      <p:bgPr>
        <a:solidFill>
          <a:schemeClr val="lt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22" name="Google Shape;22;p3"/>
          <p:cNvPicPr preferRelativeResize="0"/>
          <p:nvPr/>
        </p:nvPicPr>
        <p:blipFill rotWithShape="1">
          <a:blip r:embed="rId2">
            <a:alphaModFix/>
          </a:blip>
          <a:srcRect b="23591" l="0" r="0" t="21799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5" name="Google Shape;25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3">
            <a:hlinkClick action="ppaction://hlinksldjump" r:id="rId3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" name="Google Shape;31;p3">
            <a:hlinkClick action="ppaction://hlinksldjump" r:id="rId4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3">
            <a:hlinkClick action="ppaction://hlinksldjump" r:id="rId5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3">
            <a:hlinkClick action="ppaction://hlinksldjump" r:id="rId6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4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4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p4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4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5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5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" name="Google Shape;54;p5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5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6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6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6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6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450" y="1068650"/>
            <a:ext cx="76887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2">
  <p:cSld name="TITLE_AND_BODY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31891705.jpg" id="65" name="Google Shape;65;p7"/>
          <p:cNvPicPr preferRelativeResize="0"/>
          <p:nvPr/>
        </p:nvPicPr>
        <p:blipFill rotWithShape="1">
          <a:blip r:embed="rId2">
            <a:alphaModFix/>
          </a:blip>
          <a:srcRect b="11971" l="0" r="0" t="11971"/>
          <a:stretch/>
        </p:blipFill>
        <p:spPr>
          <a:xfrm>
            <a:off x="0" y="487825"/>
            <a:ext cx="9143999" cy="465567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7">
            <a:hlinkClick action="ppaction://hlinksldjump" r:id="rId3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7">
            <a:hlinkClick action="ppaction://hlinksldjump" r:id="rId4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7">
            <a:hlinkClick action="ppaction://hlinksldjump" r:id="rId5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7">
            <a:hlinkClick action="ppaction://hlinksldjump" r:id="rId6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7"/>
          <p:cNvSpPr txBox="1"/>
          <p:nvPr>
            <p:ph type="title"/>
          </p:nvPr>
        </p:nvSpPr>
        <p:spPr>
          <a:xfrm>
            <a:off x="729450" y="2056375"/>
            <a:ext cx="58875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6" name="Google Shape;7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8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8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8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8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9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9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9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9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0" name="Google Shape;10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5" name="Google Shape;105;p10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0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0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0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1" name="Google Shape;11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1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11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1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1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2" name="Google Shape;122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5" name="Google Shape;125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" name="Google Shape;126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" name="Google Shape;128;p12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12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2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2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5" name="Google Shape;135;p13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13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3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3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41" name="Google Shape;141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1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4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4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4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4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2" name="Google Shape;152;p15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15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5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5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b="1"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1">
  <p:cSld name="SECTION_HEADER_2">
    <p:bg>
      <p:bgPr>
        <a:solidFill>
          <a:srgbClr val="43434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4" name="Google Shape;16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8" name="Google Shape;168;p17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17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7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7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16.xml"/><Relationship Id="rId4" Type="http://schemas.openxmlformats.org/officeDocument/2006/relationships/slide" Target="/ppt/slides/slide18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Relationship Id="rId4" Type="http://schemas.openxmlformats.org/officeDocument/2006/relationships/image" Target="../media/image10.jpg"/><Relationship Id="rId5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ctrTitle"/>
          </p:nvPr>
        </p:nvSpPr>
        <p:spPr>
          <a:xfrm>
            <a:off x="729450" y="1322450"/>
            <a:ext cx="75225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00000"/>
                </a:solidFill>
              </a:rPr>
              <a:t>Weyland-Yutani </a:t>
            </a:r>
            <a:endParaRPr sz="4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000000"/>
                </a:solidFill>
              </a:rPr>
              <a:t>Reserve Intelligence Proposal</a:t>
            </a:r>
            <a:endParaRPr sz="2700"/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729563" y="2998272"/>
            <a:ext cx="48909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/>
              <a:t>Exploring Global Financial Reserves to Identify Strategic Expansion </a:t>
            </a:r>
            <a:r>
              <a:rPr b="1" lang="en-GB" sz="1400"/>
              <a:t>Opportunities</a:t>
            </a:r>
            <a:endParaRPr b="1" sz="1400"/>
          </a:p>
        </p:txBody>
      </p:sp>
      <p:sp>
        <p:nvSpPr>
          <p:cNvPr id="178" name="Google Shape;178;p18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TOC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293838" y="2303219"/>
            <a:ext cx="160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Project Overview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293838" y="2704919"/>
            <a:ext cx="160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Understanding the IMF Dataset</a:t>
            </a:r>
            <a:endParaRPr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1312713" y="3106619"/>
            <a:ext cx="160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Preparing Data for Analysis</a:t>
            </a:r>
            <a:endParaRPr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293838" y="3508319"/>
            <a:ext cx="1607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Exploratory SQL </a:t>
            </a:r>
            <a:r>
              <a:rPr lang="en-GB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Analysis</a:t>
            </a:r>
            <a:endParaRPr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3448432" y="2303219"/>
            <a:ext cx="1634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Data Visualizations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3448432" y="2704919"/>
            <a:ext cx="1634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Global Reserves Over Time</a:t>
            </a:r>
            <a:endParaRPr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3448432" y="3106619"/>
            <a:ext cx="1634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Proposed solution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3448432" y="3508319"/>
            <a:ext cx="1634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Opportunities</a:t>
            </a:r>
            <a:r>
              <a:rPr lang="en-GB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for Weyland-Yutani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5611125" y="2254188"/>
            <a:ext cx="1607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Strategic Actions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5611135" y="2704919"/>
            <a:ext cx="1241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Summary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611135" y="3106619"/>
            <a:ext cx="1241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Team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</a:t>
            </a:r>
            <a:endParaRPr/>
          </a:p>
        </p:txBody>
      </p:sp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1295325" y="2078875"/>
            <a:ext cx="7122900" cy="13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Weyland-Yutani shareholders desire to understand world domination more clearly.  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100"/>
              <a:t>They have asked for an analysis of the world's international reserves to identify global financial buffers in support of investment and policy development to become a more perfect "</a:t>
            </a:r>
            <a:r>
              <a:rPr i="1" lang="en-GB" sz="1100"/>
              <a:t>Global Company.</a:t>
            </a:r>
            <a:r>
              <a:rPr lang="en-GB" sz="1100"/>
              <a:t>"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pic>
        <p:nvPicPr>
          <p:cNvPr descr="shutterstock_429987889_edited.jpg" id="202" name="Google Shape;202;p20"/>
          <p:cNvPicPr preferRelativeResize="0"/>
          <p:nvPr/>
        </p:nvPicPr>
        <p:blipFill rotWithShape="1">
          <a:blip r:embed="rId3">
            <a:alphaModFix/>
          </a:blip>
          <a:srcRect b="1381" l="12609" r="6247" t="85988"/>
          <a:stretch/>
        </p:blipFill>
        <p:spPr>
          <a:xfrm>
            <a:off x="0" y="3835670"/>
            <a:ext cx="9144000" cy="132689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IMF Dataset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1400790" y="2181675"/>
            <a:ext cx="328800" cy="32880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FFFFF"/>
                </a:solidFill>
              </a:rPr>
              <a:t>1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1847691" y="2073775"/>
            <a:ext cx="28329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100"/>
              <a:t>Source: </a:t>
            </a:r>
            <a:br>
              <a:rPr lang="en-GB" sz="1100"/>
            </a:br>
            <a:r>
              <a:rPr lang="en-GB" sz="1100"/>
              <a:t>International Monetary Fund (IMF)</a:t>
            </a:r>
            <a:endParaRPr sz="1100"/>
          </a:p>
        </p:txBody>
      </p:sp>
      <p:sp>
        <p:nvSpPr>
          <p:cNvPr id="211" name="Google Shape;211;p21"/>
          <p:cNvSpPr/>
          <p:nvPr/>
        </p:nvSpPr>
        <p:spPr>
          <a:xfrm>
            <a:off x="1400790" y="3404075"/>
            <a:ext cx="328800" cy="32880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FFFFF"/>
                </a:solidFill>
              </a:rPr>
              <a:t>2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1847691" y="3307900"/>
            <a:ext cx="28329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100"/>
              <a:t>Scope:</a:t>
            </a:r>
            <a:br>
              <a:rPr lang="en-GB" sz="1100"/>
            </a:br>
            <a:r>
              <a:rPr lang="en-GB" sz="1100"/>
              <a:t>Global Financial Reserves by </a:t>
            </a:r>
            <a:br>
              <a:rPr lang="en-GB" sz="1100"/>
            </a:br>
            <a:r>
              <a:rPr lang="en-GB" sz="1100"/>
              <a:t>Country and Indicator</a:t>
            </a:r>
            <a:br>
              <a:rPr lang="en-GB" sz="1100"/>
            </a:br>
            <a:endParaRPr sz="1100"/>
          </a:p>
        </p:txBody>
      </p:sp>
      <p:sp>
        <p:nvSpPr>
          <p:cNvPr id="213" name="Google Shape;213;p21"/>
          <p:cNvSpPr/>
          <p:nvPr/>
        </p:nvSpPr>
        <p:spPr>
          <a:xfrm>
            <a:off x="5090809" y="2181675"/>
            <a:ext cx="328800" cy="32880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FFFFF"/>
                </a:solidFill>
              </a:rPr>
              <a:t>3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5536112" y="2073775"/>
            <a:ext cx="28329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100"/>
              <a:t>Years Covered: </a:t>
            </a:r>
            <a:br>
              <a:rPr lang="en-GB" sz="1100"/>
            </a:br>
            <a:r>
              <a:rPr lang="en-GB" sz="1100"/>
              <a:t>2020–2023 </a:t>
            </a:r>
            <a:endParaRPr sz="1100"/>
          </a:p>
        </p:txBody>
      </p:sp>
      <p:sp>
        <p:nvSpPr>
          <p:cNvPr id="215" name="Google Shape;215;p21"/>
          <p:cNvSpPr/>
          <p:nvPr/>
        </p:nvSpPr>
        <p:spPr>
          <a:xfrm>
            <a:off x="5090809" y="3404075"/>
            <a:ext cx="328800" cy="32880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FFFFF"/>
                </a:solidFill>
              </a:rPr>
              <a:t>4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216" name="Google Shape;216;p21"/>
          <p:cNvSpPr txBox="1"/>
          <p:nvPr>
            <p:ph idx="1" type="body"/>
          </p:nvPr>
        </p:nvSpPr>
        <p:spPr>
          <a:xfrm>
            <a:off x="5536112" y="3307900"/>
            <a:ext cx="28329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100"/>
              <a:t>Key Fields: </a:t>
            </a:r>
            <a:br>
              <a:rPr lang="en-GB" sz="1100"/>
            </a:br>
            <a:r>
              <a:rPr lang="en-GB" sz="1100"/>
              <a:t>Country, Indicator, Year, Value</a:t>
            </a:r>
            <a:endParaRPr sz="1100"/>
          </a:p>
        </p:txBody>
      </p:sp>
      <p:sp>
        <p:nvSpPr>
          <p:cNvPr id="217" name="Google Shape;217;p21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729450" y="572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Data for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22" title="Screenshot 2025-07-13 at 19-37-20 Create table – BigQuery – WY-GlobalReserves – Google Cloud cons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078875"/>
            <a:ext cx="7688699" cy="29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>
            <p:ph type="title"/>
          </p:nvPr>
        </p:nvSpPr>
        <p:spPr>
          <a:xfrm>
            <a:off x="787625" y="132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Creating the Project in Google Cloud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729450" y="572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Data for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787625" y="132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Uploading to Google Cloud Storage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23" title="Screenshot 2025-07-13 at 19-37-31 wy-project – Bucket details – Cloud Storage – WY-GlobalReserves – Google Cloud cons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25" y="2234500"/>
            <a:ext cx="7917972" cy="27566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title"/>
          </p:nvPr>
        </p:nvSpPr>
        <p:spPr>
          <a:xfrm>
            <a:off x="729450" y="1322450"/>
            <a:ext cx="7010100" cy="3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Exploratory SQL Analysis</a:t>
            </a:r>
            <a:endParaRPr sz="1200"/>
          </a:p>
        </p:txBody>
      </p:sp>
      <p:sp>
        <p:nvSpPr>
          <p:cNvPr id="239" name="Google Shape;239;p24"/>
          <p:cNvSpPr txBox="1"/>
          <p:nvPr>
            <p:ph idx="4294967295" type="body"/>
          </p:nvPr>
        </p:nvSpPr>
        <p:spPr>
          <a:xfrm>
            <a:off x="729450" y="1749350"/>
            <a:ext cx="70101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FFFF"/>
                </a:solidFill>
              </a:rPr>
              <a:t>• Validated years 2020–2023 are populated in dataset  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FFFF"/>
                </a:solidFill>
              </a:rPr>
              <a:t>• Identified key indicators: gold reserves, foreign asset claims  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200">
                <a:solidFill>
                  <a:srgbClr val="FFFFFF"/>
                </a:solidFill>
              </a:rPr>
              <a:t>• Confirmed tidy structure using SQL and `UNPIVOT`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>
            <p:ph type="title"/>
          </p:nvPr>
        </p:nvSpPr>
        <p:spPr>
          <a:xfrm>
            <a:off x="729450" y="572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Data for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 txBox="1"/>
          <p:nvPr>
            <p:ph type="title"/>
          </p:nvPr>
        </p:nvSpPr>
        <p:spPr>
          <a:xfrm>
            <a:off x="787625" y="132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Shaping the data with SQL Inquiries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 title="Screenshot 2025-07-13 at 19-43-55 BigQuery – WY-GlobalReserves – Google Cloud cons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25" y="2234500"/>
            <a:ext cx="7917972" cy="27566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729450" y="572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Data for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6"/>
          <p:cNvSpPr txBox="1"/>
          <p:nvPr>
            <p:ph type="title"/>
          </p:nvPr>
        </p:nvSpPr>
        <p:spPr>
          <a:xfrm>
            <a:off x="787625" y="132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Shaping the data with SQL Inquiries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6" title="Screenshot 2025-07-13 at 19-45-03 BigQuery – WY-GlobalReserves – Google Cloud cons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25" y="2234500"/>
            <a:ext cx="7917972" cy="2756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729450" y="572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Data for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 txBox="1"/>
          <p:nvPr>
            <p:ph type="title"/>
          </p:nvPr>
        </p:nvSpPr>
        <p:spPr>
          <a:xfrm>
            <a:off x="787625" y="132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Shaping the data with SQL Inquiries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27" title="Screenshot 2025-07-13 at 19-45-28 BigQuery – WY-GlobalReserves – Google Cloud cons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25" y="2234500"/>
            <a:ext cx="7917972" cy="275660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>
            <p:ph type="title"/>
          </p:nvPr>
        </p:nvSpPr>
        <p:spPr>
          <a:xfrm>
            <a:off x="729450" y="572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Data for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 txBox="1"/>
          <p:nvPr>
            <p:ph type="title"/>
          </p:nvPr>
        </p:nvSpPr>
        <p:spPr>
          <a:xfrm>
            <a:off x="787625" y="1325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Shaping the data with SQL Inquiries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8" title="Screenshot 2025-07-13 at 19-50-01 BigQuery – WY-GlobalReserves – Google Cloud cons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214247"/>
            <a:ext cx="7976151" cy="277685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8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729450" y="2056375"/>
            <a:ext cx="52032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Understanding the data</a:t>
            </a: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724375" y="716925"/>
            <a:ext cx="38934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Market trends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300"/>
              <a:t>Top Reserve Holders</a:t>
            </a:r>
            <a:r>
              <a:rPr b="0" lang="en-GB"/>
              <a:t> </a:t>
            </a:r>
            <a:r>
              <a:rPr b="0" lang="en-GB" sz="2000"/>
              <a:t>(2023)</a:t>
            </a:r>
            <a:endParaRPr b="0" sz="2000"/>
          </a:p>
        </p:txBody>
      </p:sp>
      <p:pic>
        <p:nvPicPr>
          <p:cNvPr id="284" name="Google Shape;284;p30"/>
          <p:cNvPicPr preferRelativeResize="0"/>
          <p:nvPr/>
        </p:nvPicPr>
        <p:blipFill rotWithShape="1">
          <a:blip r:embed="rId3">
            <a:alphaModFix/>
          </a:blip>
          <a:srcRect b="2708" l="23885" r="23895" t="18096"/>
          <a:stretch/>
        </p:blipFill>
        <p:spPr>
          <a:xfrm>
            <a:off x="344625" y="1751325"/>
            <a:ext cx="8507776" cy="367595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739975" y="708350"/>
            <a:ext cx="38934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Market trends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Global Reserves </a:t>
            </a:r>
            <a:r>
              <a:rPr b="0" lang="en-GB" sz="1700"/>
              <a:t>(2020-23</a:t>
            </a:r>
            <a:r>
              <a:rPr b="0" lang="en-GB" sz="1700"/>
              <a:t>)</a:t>
            </a:r>
            <a:endParaRPr b="0" sz="1700"/>
          </a:p>
        </p:txBody>
      </p:sp>
      <p:pic>
        <p:nvPicPr>
          <p:cNvPr id="291" name="Google Shape;2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75" y="1742750"/>
            <a:ext cx="8276577" cy="33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1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/>
          <p:nvPr>
            <p:ph type="title"/>
          </p:nvPr>
        </p:nvSpPr>
        <p:spPr>
          <a:xfrm>
            <a:off x="730000" y="1318650"/>
            <a:ext cx="3636600" cy="5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Insights</a:t>
            </a:r>
            <a:endParaRPr/>
          </a:p>
        </p:txBody>
      </p:sp>
      <p:sp>
        <p:nvSpPr>
          <p:cNvPr id="298" name="Google Shape;298;p32"/>
          <p:cNvSpPr txBox="1"/>
          <p:nvPr>
            <p:ph idx="1" type="body"/>
          </p:nvPr>
        </p:nvSpPr>
        <p:spPr>
          <a:xfrm>
            <a:off x="721225" y="1965150"/>
            <a:ext cx="3636600" cy="8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100"/>
              <a:t>Empires of history may hold a great key to future growth as post colonialism still leaves it’s mark decades later, while technology and oil still drive much of the financial markets.</a:t>
            </a:r>
            <a:endParaRPr sz="1100"/>
          </a:p>
        </p:txBody>
      </p:sp>
      <p:sp>
        <p:nvSpPr>
          <p:cNvPr id="299" name="Google Shape;299;p32"/>
          <p:cNvSpPr txBox="1"/>
          <p:nvPr/>
        </p:nvSpPr>
        <p:spPr>
          <a:xfrm>
            <a:off x="734530" y="3083160"/>
            <a:ext cx="3636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01    </a:t>
            </a: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| </a:t>
            </a:r>
            <a:r>
              <a:rPr lang="en-GB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-GB" sz="1000">
                <a:latin typeface="Lato"/>
                <a:ea typeface="Lato"/>
                <a:cs typeface="Lato"/>
                <a:sym typeface="Lato"/>
              </a:rPr>
              <a:t>Germany, Italy, &amp; France hold the greatest reserves</a:t>
            </a:r>
            <a:endParaRPr/>
          </a:p>
        </p:txBody>
      </p:sp>
      <p:sp>
        <p:nvSpPr>
          <p:cNvPr id="300" name="Google Shape;300;p32"/>
          <p:cNvSpPr txBox="1"/>
          <p:nvPr/>
        </p:nvSpPr>
        <p:spPr>
          <a:xfrm>
            <a:off x="734530" y="3344460"/>
            <a:ext cx="3636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02    |</a:t>
            </a:r>
            <a:r>
              <a:rPr b="1" lang="en-GB" sz="10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000">
                <a:solidFill>
                  <a:srgbClr val="53C6A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GB" sz="1000">
                <a:latin typeface="Lato"/>
                <a:ea typeface="Lato"/>
                <a:cs typeface="Lato"/>
                <a:sym typeface="Lato"/>
              </a:rPr>
              <a:t>East Asia &amp; Middle East have sharpest growth levels</a:t>
            </a:r>
            <a:endParaRPr/>
          </a:p>
        </p:txBody>
      </p:sp>
      <p:sp>
        <p:nvSpPr>
          <p:cNvPr id="301" name="Google Shape;301;p32"/>
          <p:cNvSpPr txBox="1"/>
          <p:nvPr/>
        </p:nvSpPr>
        <p:spPr>
          <a:xfrm>
            <a:off x="734525" y="3605750"/>
            <a:ext cx="3873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03    |</a:t>
            </a:r>
            <a:r>
              <a:rPr b="1" lang="en-GB" sz="1000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-GB" sz="1000">
                <a:latin typeface="Lato"/>
                <a:ea typeface="Lato"/>
                <a:cs typeface="Lato"/>
                <a:sym typeface="Lato"/>
              </a:rPr>
              <a:t>Stagnation plagues Sub-Saharan Africa &amp; Eastern Europe</a:t>
            </a:r>
            <a:endParaRPr/>
          </a:p>
        </p:txBody>
      </p:sp>
      <p:pic>
        <p:nvPicPr>
          <p:cNvPr descr="offset_comp_267026.jpg" id="302" name="Google Shape;302;p32"/>
          <p:cNvPicPr preferRelativeResize="0"/>
          <p:nvPr/>
        </p:nvPicPr>
        <p:blipFill rotWithShape="1">
          <a:blip r:embed="rId3">
            <a:alphaModFix/>
          </a:blip>
          <a:srcRect b="6490" l="40074" r="22771" t="1581"/>
          <a:stretch/>
        </p:blipFill>
        <p:spPr>
          <a:xfrm>
            <a:off x="5146750" y="1184600"/>
            <a:ext cx="1977667" cy="3262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ffset_comp_429332_Edited.jpg" id="303" name="Google Shape;303;p32"/>
          <p:cNvPicPr preferRelativeResize="0"/>
          <p:nvPr/>
        </p:nvPicPr>
        <p:blipFill rotWithShape="1">
          <a:blip r:embed="rId4">
            <a:alphaModFix/>
          </a:blip>
          <a:srcRect b="850" l="19769" r="7253" t="5665"/>
          <a:stretch/>
        </p:blipFill>
        <p:spPr>
          <a:xfrm>
            <a:off x="7172149" y="1184609"/>
            <a:ext cx="1971851" cy="1611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ffset_comp_389009_Edited.jpg" id="304" name="Google Shape;304;p32"/>
          <p:cNvPicPr preferRelativeResize="0"/>
          <p:nvPr/>
        </p:nvPicPr>
        <p:blipFill rotWithShape="1">
          <a:blip r:embed="rId5">
            <a:alphaModFix/>
          </a:blip>
          <a:srcRect b="2335" l="17128" r="5717" t="2335"/>
          <a:stretch/>
        </p:blipFill>
        <p:spPr>
          <a:xfrm>
            <a:off x="7172149" y="2835640"/>
            <a:ext cx="1971840" cy="161156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2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>
            <p:ph type="title"/>
          </p:nvPr>
        </p:nvSpPr>
        <p:spPr>
          <a:xfrm>
            <a:off x="729450" y="1322450"/>
            <a:ext cx="7010100" cy="3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Strategic Actions</a:t>
            </a:r>
            <a:endParaRPr sz="1200"/>
          </a:p>
        </p:txBody>
      </p:sp>
      <p:sp>
        <p:nvSpPr>
          <p:cNvPr id="311" name="Google Shape;311;p33"/>
          <p:cNvSpPr txBox="1"/>
          <p:nvPr>
            <p:ph idx="4294967295" type="body"/>
          </p:nvPr>
        </p:nvSpPr>
        <p:spPr>
          <a:xfrm>
            <a:off x="729450" y="1749350"/>
            <a:ext cx="70101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</a:rPr>
              <a:t>1</a:t>
            </a:r>
            <a:r>
              <a:rPr lang="en-GB" sz="2000">
                <a:solidFill>
                  <a:srgbClr val="FFFFFF"/>
                </a:solidFill>
              </a:rPr>
              <a:t>. Target regions with stagnant reserves for partnerships  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</a:rPr>
              <a:t>2. Invest in rising economies like India &amp; Brazil 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000">
                <a:solidFill>
                  <a:srgbClr val="FFFFFF"/>
                </a:solidFill>
              </a:rPr>
              <a:t>3. Monitor reserve trends as early warning market signals</a:t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"/>
          <p:cNvSpPr txBox="1"/>
          <p:nvPr>
            <p:ph type="title"/>
          </p:nvPr>
        </p:nvSpPr>
        <p:spPr>
          <a:xfrm>
            <a:off x="730000" y="1318650"/>
            <a:ext cx="27999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In Conclusion</a:t>
            </a:r>
            <a:endParaRPr/>
          </a:p>
        </p:txBody>
      </p:sp>
      <p:sp>
        <p:nvSpPr>
          <p:cNvPr id="318" name="Google Shape;318;p34"/>
          <p:cNvSpPr txBox="1"/>
          <p:nvPr>
            <p:ph idx="1" type="body"/>
          </p:nvPr>
        </p:nvSpPr>
        <p:spPr>
          <a:xfrm>
            <a:off x="3605300" y="1068650"/>
            <a:ext cx="47982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100"/>
              <a:t>This analysis leverages IMF data to guide Weyland-Yutani’s global strategy with the following key takeaways:  </a:t>
            </a:r>
            <a:endParaRPr sz="1100"/>
          </a:p>
        </p:txBody>
      </p:sp>
      <p:sp>
        <p:nvSpPr>
          <p:cNvPr id="319" name="Google Shape;319;p34"/>
          <p:cNvSpPr txBox="1"/>
          <p:nvPr/>
        </p:nvSpPr>
        <p:spPr>
          <a:xfrm>
            <a:off x="842600" y="2309340"/>
            <a:ext cx="2068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Disaggregated</a:t>
            </a: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reserve data reveals national stability patterns</a:t>
            </a:r>
            <a:endParaRPr b="1"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0" name="Google Shape;320;p34"/>
          <p:cNvCxnSpPr/>
          <p:nvPr/>
        </p:nvCxnSpPr>
        <p:spPr>
          <a:xfrm>
            <a:off x="3224350" y="1982550"/>
            <a:ext cx="0" cy="180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1" name="Google Shape;321;p34"/>
          <p:cNvSpPr txBox="1"/>
          <p:nvPr/>
        </p:nvSpPr>
        <p:spPr>
          <a:xfrm>
            <a:off x="3537900" y="2309340"/>
            <a:ext cx="2068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Identified target regions with </a:t>
            </a: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strategic</a:t>
            </a: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potential</a:t>
            </a:r>
            <a:endParaRPr b="1"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2" name="Google Shape;322;p34"/>
          <p:cNvCxnSpPr/>
          <p:nvPr/>
        </p:nvCxnSpPr>
        <p:spPr>
          <a:xfrm>
            <a:off x="5919650" y="1982550"/>
            <a:ext cx="0" cy="180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3" name="Google Shape;323;p34"/>
          <p:cNvSpPr txBox="1"/>
          <p:nvPr/>
        </p:nvSpPr>
        <p:spPr>
          <a:xfrm>
            <a:off x="6113500" y="2204867"/>
            <a:ext cx="2307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4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34"/>
          <p:cNvSpPr txBox="1"/>
          <p:nvPr/>
        </p:nvSpPr>
        <p:spPr>
          <a:xfrm>
            <a:off x="6233200" y="2309340"/>
            <a:ext cx="2068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Informed expansion, risk mitigation, and market </a:t>
            </a: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positioning</a:t>
            </a:r>
            <a:endParaRPr b="1"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34"/>
          <p:cNvSpPr txBox="1"/>
          <p:nvPr/>
        </p:nvSpPr>
        <p:spPr>
          <a:xfrm>
            <a:off x="2911350" y="4170375"/>
            <a:ext cx="3321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“Informed expansion builds lasting dominance”</a:t>
            </a:r>
            <a:endParaRPr i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" name="Google Shape;326;p34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/>
          <p:nvPr>
            <p:ph type="title"/>
          </p:nvPr>
        </p:nvSpPr>
        <p:spPr>
          <a:xfrm>
            <a:off x="728344" y="1318650"/>
            <a:ext cx="2207700" cy="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</a:t>
            </a:r>
            <a:endParaRPr b="0"/>
          </a:p>
        </p:txBody>
      </p:sp>
      <p:sp>
        <p:nvSpPr>
          <p:cNvPr id="332" name="Google Shape;332;p35"/>
          <p:cNvSpPr txBox="1"/>
          <p:nvPr>
            <p:ph idx="1" type="body"/>
          </p:nvPr>
        </p:nvSpPr>
        <p:spPr>
          <a:xfrm>
            <a:off x="721250" y="1965150"/>
            <a:ext cx="2207700" cy="22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All Slides &amp; Materials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100"/>
              <a:t>J. Dylan Beckham</a:t>
            </a:r>
            <a:endParaRPr sz="1100"/>
          </a:p>
        </p:txBody>
      </p:sp>
      <p:sp>
        <p:nvSpPr>
          <p:cNvPr id="333" name="Google Shape;333;p35"/>
          <p:cNvSpPr txBox="1"/>
          <p:nvPr/>
        </p:nvSpPr>
        <p:spPr>
          <a:xfrm>
            <a:off x="3202795" y="3781738"/>
            <a:ext cx="15210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FFFFFF"/>
                </a:solidFill>
              </a:rPr>
              <a:t>CEO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334" name="Google Shape;334;p35"/>
          <p:cNvSpPr txBox="1"/>
          <p:nvPr/>
        </p:nvSpPr>
        <p:spPr>
          <a:xfrm>
            <a:off x="3202795" y="3960772"/>
            <a:ext cx="15210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Berry Books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5230277" y="3781738"/>
            <a:ext cx="15210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FFFFFF"/>
                </a:solidFill>
              </a:rPr>
              <a:t>CFO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336" name="Google Shape;336;p35"/>
          <p:cNvSpPr txBox="1"/>
          <p:nvPr/>
        </p:nvSpPr>
        <p:spPr>
          <a:xfrm>
            <a:off x="5230277" y="3960772"/>
            <a:ext cx="15210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Vinny Viewer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7252904" y="3781738"/>
            <a:ext cx="15210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FFFFFF"/>
                </a:solidFill>
              </a:rPr>
              <a:t>Sales Director</a:t>
            </a:r>
            <a:endParaRPr b="1" sz="600">
              <a:solidFill>
                <a:srgbClr val="FFFFFF"/>
              </a:solidFill>
            </a:endParaRPr>
          </a:p>
        </p:txBody>
      </p:sp>
      <p:sp>
        <p:nvSpPr>
          <p:cNvPr id="338" name="Google Shape;338;p35"/>
          <p:cNvSpPr txBox="1"/>
          <p:nvPr/>
        </p:nvSpPr>
        <p:spPr>
          <a:xfrm>
            <a:off x="7252929" y="3960772"/>
            <a:ext cx="15210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Wendy Writer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00000"/>
                </a:solidFill>
              </a:rPr>
              <a:t>Thank you.</a:t>
            </a:r>
            <a:endParaRPr/>
          </a:p>
        </p:txBody>
      </p:sp>
      <p:sp>
        <p:nvSpPr>
          <p:cNvPr id="345" name="Google Shape;345;p36"/>
          <p:cNvSpPr txBox="1"/>
          <p:nvPr/>
        </p:nvSpPr>
        <p:spPr>
          <a:xfrm>
            <a:off x="7705575" y="4723650"/>
            <a:ext cx="1335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Dylan Beckham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